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Bitter SemiBold"/>
      <p:regular r:id="rId201314"/>
    </p:embeddedFont>
    <p:embeddedFont>
      <p:font typeface="Bitter"/>
      <p:regular r:id="rId201315"/>
    </p:embeddedFont>
    <p:embeddedFont>
      <p:font typeface="Bitter Bold"/>
      <p:regular r:id="rId201316"/>
    </p:embeddedFont>
    <p:embeddedFont>
      <p:font typeface="Outfit Medium"/>
      <p:regular r:id="rId201317"/>
    </p:embeddedFont>
    <p:embeddedFont>
      <p:font typeface="Outfit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C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C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jpe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79873" cy="6858000"/>
          </a:xfrm>
          <a:prstGeom prst="rect">
            <a:avLst/>
          </a:prstGeom>
          <a:solidFill>
            <a:srgbClr val="1C1D1F"/>
          </a:solidFill>
          <a:ln/>
        </p:spPr>
      </p:sp>
      <p:sp>
        <p:nvSpPr>
          <p:cNvPr id="3" name="Text 1"/>
          <p:cNvSpPr/>
          <p:nvPr/>
        </p:nvSpPr>
        <p:spPr>
          <a:xfrm>
            <a:off x="533387" y="540147"/>
            <a:ext cx="4013100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AN INTELLIGENT, BEGINNER-FRIENDLY TREKKING PLANNING PLATFORM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33387" y="3500120"/>
            <a:ext cx="4013100" cy="1615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000" b="1" spc="-90" kern="100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0"/>
              </a:rPr>
              <a:t>PINNACLE</a:t>
            </a:r>
            <a:endParaRPr lang="en-US" sz="60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6000" b="1" spc="-90" kern="100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0"/>
              </a:rPr>
              <a:t>PATHS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33387" y="5255605"/>
            <a:ext cx="4013100" cy="715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2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From First Step to Summit — Plan Smarter, Trek Better.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387" y="6139716"/>
            <a:ext cx="4546486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Discover. Prepare. Explore.</a:t>
            </a:r>
            <a:endParaRPr lang="en-US" sz="1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873" y="0"/>
            <a:ext cx="71118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612477"/>
            <a:ext cx="1165830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THE CHALLENGE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3387" y="904526"/>
            <a:ext cx="11124922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b="1" spc="-64" kern="100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0"/>
              </a:rPr>
              <a:t>Trekking Begins with Uncertainty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33387" y="1564846"/>
            <a:ext cx="11124922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First-time trekkers struggle to plan safe and suitable treks because essential information is fragmented across multiple platforms.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3387" y="2373908"/>
            <a:ext cx="3555911" cy="1786731"/>
          </a:xfrm>
          <a:prstGeom prst="roundRect">
            <a:avLst>
              <a:gd name="adj" fmla="val 640"/>
            </a:avLst>
          </a:prstGeom>
          <a:solidFill>
            <a:srgbClr val="3B3C3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1" y="2475508"/>
            <a:ext cx="457189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1981" y="3070503"/>
            <a:ext cx="309872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Fragmented Information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1981" y="3560008"/>
            <a:ext cx="3098722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Research spread across websites, blogs and videos.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94090" y="2373908"/>
            <a:ext cx="3454314" cy="1786731"/>
          </a:xfrm>
          <a:prstGeom prst="roundRect">
            <a:avLst>
              <a:gd name="adj" fmla="val 640"/>
            </a:avLst>
          </a:prstGeom>
          <a:solidFill>
            <a:srgbClr val="3B3C3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684" y="2475508"/>
            <a:ext cx="457189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22684" y="3070503"/>
            <a:ext cx="2997125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Unclear Preparation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622684" y="3560008"/>
            <a:ext cx="2997125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Confusion about gear and fitness requirements.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153196" y="2373908"/>
            <a:ext cx="3505112" cy="1786731"/>
          </a:xfrm>
          <a:prstGeom prst="roundRect">
            <a:avLst>
              <a:gd name="adj" fmla="val 640"/>
            </a:avLst>
          </a:prstGeom>
          <a:solidFill>
            <a:srgbClr val="3B3C3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0" y="2475508"/>
            <a:ext cx="457189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81790" y="3070503"/>
            <a:ext cx="3047924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Difficult Assessment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8381790" y="3560008"/>
            <a:ext cx="3047924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Beginners cannot identify suitable treks.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33387" y="4465439"/>
            <a:ext cx="3555911" cy="1786731"/>
          </a:xfrm>
          <a:prstGeom prst="roundRect">
            <a:avLst>
              <a:gd name="adj" fmla="val 640"/>
            </a:avLst>
          </a:prstGeom>
          <a:solidFill>
            <a:srgbClr val="3B3C3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4567039"/>
            <a:ext cx="457189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61981" y="5162034"/>
            <a:ext cx="309872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Budget Uncertainty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761981" y="5651540"/>
            <a:ext cx="3098722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Hard to estimate transport and overall expenses.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4394090" y="4465439"/>
            <a:ext cx="7264218" cy="1786731"/>
          </a:xfrm>
          <a:prstGeom prst="roundRect">
            <a:avLst>
              <a:gd name="adj" fmla="val 640"/>
            </a:avLst>
          </a:prstGeom>
          <a:solidFill>
            <a:srgbClr val="3B3C3E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684" y="4567039"/>
            <a:ext cx="457189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622684" y="5162034"/>
            <a:ext cx="6807030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Safety and Weather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4622684" y="5651540"/>
            <a:ext cx="7035624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Limited clarity on conditions, terrain and precautions.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540147"/>
            <a:ext cx="846810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THE PLATFORM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3387" y="832196"/>
            <a:ext cx="7934722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b="1" spc="-64" kern="100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0"/>
              </a:rPr>
              <a:t>One Platform. Every Step of the Journey.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33387" y="1492516"/>
            <a:ext cx="7934722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Pinnacle Paths centralizes trek discovery, personalized recommendations, preparation guidance and trip planning in one accessible platform.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33387" y="2301577"/>
            <a:ext cx="89770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9FA582"/>
                </a:solidFill>
                <a:latin typeface="Bitter SemiBold" pitchFamily="34" charset="0"/>
                <a:ea typeface="Bitter SemiBold" pitchFamily="34" charset="-122"/>
                <a:cs typeface="Bitter SemiBold" pitchFamily="34" charset="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33387" y="2621657"/>
            <a:ext cx="2441613" cy="1905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7" name="Text 5"/>
          <p:cNvSpPr/>
          <p:nvPr/>
        </p:nvSpPr>
        <p:spPr>
          <a:xfrm>
            <a:off x="533387" y="2782272"/>
            <a:ext cx="2441613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Explore Treks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79792" y="2301577"/>
            <a:ext cx="89770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9FA582"/>
                </a:solidFill>
                <a:latin typeface="Bitter SemiBold" pitchFamily="34" charset="0"/>
                <a:ea typeface="Bitter SemiBold" pitchFamily="34" charset="-122"/>
                <a:cs typeface="Bitter SemiBold" pitchFamily="34" charset="0"/>
              </a:rPr>
              <a:t>02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79792" y="2621657"/>
            <a:ext cx="2441613" cy="1905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0" name="Text 8"/>
          <p:cNvSpPr/>
          <p:nvPr/>
        </p:nvSpPr>
        <p:spPr>
          <a:xfrm>
            <a:off x="3279792" y="2782272"/>
            <a:ext cx="244171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Set Preferences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026297" y="2301577"/>
            <a:ext cx="89770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9FA582"/>
                </a:solidFill>
                <a:latin typeface="Bitter SemiBold" pitchFamily="34" charset="0"/>
                <a:ea typeface="Bitter SemiBold" pitchFamily="34" charset="-122"/>
                <a:cs typeface="Bitter SemiBold" pitchFamily="34" charset="0"/>
              </a:rPr>
              <a:t>03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026297" y="2621657"/>
            <a:ext cx="2441613" cy="1905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3" name="Text 11"/>
          <p:cNvSpPr/>
          <p:nvPr/>
        </p:nvSpPr>
        <p:spPr>
          <a:xfrm>
            <a:off x="6026297" y="2782272"/>
            <a:ext cx="2441712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Get Recommendations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3387" y="4351139"/>
            <a:ext cx="89770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9FA582"/>
                </a:solidFill>
                <a:latin typeface="Bitter SemiBold" pitchFamily="34" charset="0"/>
                <a:ea typeface="Bitter SemiBold" pitchFamily="34" charset="-122"/>
                <a:cs typeface="Bitter SemiBold" pitchFamily="34" charset="0"/>
              </a:rPr>
              <a:t>04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33387" y="4671219"/>
            <a:ext cx="3814866" cy="1905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6" name="Text 14"/>
          <p:cNvSpPr/>
          <p:nvPr/>
        </p:nvSpPr>
        <p:spPr>
          <a:xfrm>
            <a:off x="533387" y="4831834"/>
            <a:ext cx="3814866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View Trek Roadmap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53045" y="4351139"/>
            <a:ext cx="89770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9FA582"/>
                </a:solidFill>
                <a:latin typeface="Bitter SemiBold" pitchFamily="34" charset="0"/>
                <a:ea typeface="Bitter SemiBold" pitchFamily="34" charset="-122"/>
                <a:cs typeface="Bitter SemiBold" pitchFamily="34" charset="0"/>
              </a:rPr>
              <a:t>05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53045" y="4671219"/>
            <a:ext cx="3814866" cy="1905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9" name="Text 17"/>
          <p:cNvSpPr/>
          <p:nvPr/>
        </p:nvSpPr>
        <p:spPr>
          <a:xfrm>
            <a:off x="4653045" y="4831834"/>
            <a:ext cx="3814965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Prepare &amp; Plan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001495" y="0"/>
            <a:ext cx="3190101" cy="6858000"/>
          </a:xfrm>
          <a:prstGeom prst="rect">
            <a:avLst/>
          </a:prstGeom>
          <a:solidFill>
            <a:srgbClr val="E8EDE5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4882" y="2125960"/>
            <a:ext cx="2123327" cy="21233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538499"/>
            <a:ext cx="11658308" cy="13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67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CORE FEATURES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3387" y="730796"/>
            <a:ext cx="11124922" cy="329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300" b="1" spc="-46" kern="100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0"/>
              </a:rPr>
              <a:t>Built for Beginners. Designed for Exploration.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33387" y="1152469"/>
            <a:ext cx="11124922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60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From static trek information to personalized, actionable preparation.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87" y="1516856"/>
            <a:ext cx="11074123" cy="11811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3387" y="2805807"/>
            <a:ext cx="3632109" cy="1952427"/>
          </a:xfrm>
          <a:prstGeom prst="roundRect">
            <a:avLst>
              <a:gd name="adj" fmla="val 585"/>
            </a:avLst>
          </a:prstGeom>
          <a:solidFill>
            <a:srgbClr val="3B3C3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82" y="2907407"/>
            <a:ext cx="330489" cy="3304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1182" y="3310699"/>
            <a:ext cx="3276518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Smart Trek Discovery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711182" y="3634861"/>
            <a:ext cx="3276518" cy="313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Filter by difficulty, destination, duration, season, budget and altitude.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317892" y="2805807"/>
            <a:ext cx="3555911" cy="1952427"/>
          </a:xfrm>
          <a:prstGeom prst="roundRect">
            <a:avLst>
              <a:gd name="adj" fmla="val 585"/>
            </a:avLst>
          </a:prstGeom>
          <a:solidFill>
            <a:srgbClr val="9FA58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688" y="2907407"/>
            <a:ext cx="330489" cy="33049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95688" y="3312655"/>
            <a:ext cx="3378115" cy="13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67" kern="1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INNOVATION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4495688" y="3490781"/>
            <a:ext cx="3200320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Personalized Recommendations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4495688" y="3814943"/>
            <a:ext cx="3378115" cy="156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Match experience, fitness, budget and time.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026199" y="2805807"/>
            <a:ext cx="3632109" cy="1952427"/>
          </a:xfrm>
          <a:prstGeom prst="roundRect">
            <a:avLst>
              <a:gd name="adj" fmla="val 585"/>
            </a:avLst>
          </a:prstGeom>
          <a:solidFill>
            <a:srgbClr val="9FA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3995" y="2907407"/>
            <a:ext cx="330489" cy="33049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03995" y="3312655"/>
            <a:ext cx="3454314" cy="13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67" kern="1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INNOVATION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8203995" y="3490781"/>
            <a:ext cx="3276518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Trek Progression Roadmap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8203995" y="3814943"/>
            <a:ext cx="3276518" cy="313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Build skills through easier preparatory treks before advanced expeditions.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33387" y="4910634"/>
            <a:ext cx="3632109" cy="1952427"/>
          </a:xfrm>
          <a:prstGeom prst="roundRect">
            <a:avLst>
              <a:gd name="adj" fmla="val 585"/>
            </a:avLst>
          </a:prstGeom>
          <a:solidFill>
            <a:srgbClr val="3B3C3E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82" y="5012234"/>
            <a:ext cx="330489" cy="33049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1182" y="5415525"/>
            <a:ext cx="3276518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Intelligent Equipment Checklist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711182" y="5739688"/>
            <a:ext cx="3454314" cy="156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Pack by season, terrain and duration.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317892" y="4910634"/>
            <a:ext cx="3555911" cy="1952427"/>
          </a:xfrm>
          <a:prstGeom prst="roundRect">
            <a:avLst>
              <a:gd name="adj" fmla="val 585"/>
            </a:avLst>
          </a:prstGeom>
          <a:solidFill>
            <a:srgbClr val="3B3C3E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5688" y="5012234"/>
            <a:ext cx="330489" cy="33049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495688" y="5415525"/>
            <a:ext cx="3200320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Weather &amp; Route Insights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4495688" y="5739688"/>
            <a:ext cx="3378115" cy="156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Forecasts, locations, transport and advisories.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8026199" y="4910634"/>
            <a:ext cx="3632109" cy="1952427"/>
          </a:xfrm>
          <a:prstGeom prst="roundRect">
            <a:avLst>
              <a:gd name="adj" fmla="val 585"/>
            </a:avLst>
          </a:prstGeom>
          <a:solidFill>
            <a:srgbClr val="3B3C3E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3995" y="5012234"/>
            <a:ext cx="330489" cy="33049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203995" y="5415525"/>
            <a:ext cx="3276518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Budget &amp; Itinerary Planner</a:t>
            </a:r>
            <a:endParaRPr lang="en-US" sz="1450" dirty="0"/>
          </a:p>
        </p:txBody>
      </p:sp>
      <p:sp>
        <p:nvSpPr>
          <p:cNvPr id="31" name="Text 22"/>
          <p:cNvSpPr/>
          <p:nvPr/>
        </p:nvSpPr>
        <p:spPr>
          <a:xfrm>
            <a:off x="8203995" y="5739688"/>
            <a:ext cx="3454314" cy="156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Trip cost estimates and a structured itinerary.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540147"/>
            <a:ext cx="1165830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SYSTEM 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3387" y="832196"/>
            <a:ext cx="11124922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b="1" spc="-64" kern="100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0"/>
              </a:rPr>
              <a:t>Technology Behind Pinnacle Paths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039" y="1469529"/>
            <a:ext cx="7289618" cy="28095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3387" y="4485481"/>
            <a:ext cx="11124922" cy="2223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Frontend: React.js + Tailwind CSS, responsive interactive components. </a:t>
            </a:r>
            <a:endParaRPr lang="en-US" sz="1800" dirty="0"/>
          </a:p>
          <a:p>
            <a:pPr algn="l" indent="0" marL="0">
              <a:lnSpc>
                <a:spcPct val="110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Backend: Node.js + Express.js, REST APIs, application logic, recommendation engine. Database: MongoDB Atlas for trek details, preferences, saved plans. 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Integrations: Open-Meteo API (weather); Leaflet + OpenStreetMap (maps). Supporting: JWT authentication, Git/GitHub, cloud deployment. The recommendation engine is rule-based or weighted-scoring, matching user preferences to curated trek attributes. It is not a trained AI model.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557558"/>
            <a:ext cx="11124922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b="1" spc="-64" kern="100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0"/>
              </a:rPr>
              <a:t>Practical Today. Scalable Tomorrow.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33387" y="1217116"/>
            <a:ext cx="5333867" cy="5408910"/>
          </a:xfrm>
          <a:prstGeom prst="rect">
            <a:avLst/>
          </a:prstGeom>
          <a:solidFill>
            <a:srgbClr val="E8EDE5"/>
          </a:solidFill>
          <a:ln/>
        </p:spPr>
      </p:sp>
      <p:sp>
        <p:nvSpPr>
          <p:cNvPr id="4" name="Text 2"/>
          <p:cNvSpPr/>
          <p:nvPr/>
        </p:nvSpPr>
        <p:spPr>
          <a:xfrm>
            <a:off x="761981" y="1448891"/>
            <a:ext cx="4876678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Feasibility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981" y="2017216"/>
          <a:ext cx="4876678" cy="914400"/>
        </p:xfrm>
        <a:graphic>
          <a:graphicData uri="http://schemas.openxmlformats.org/drawingml/2006/table">
            <a:tbl>
              <a:tblPr/>
              <a:tblGrid>
                <a:gridCol w="628634"/>
                <a:gridCol w="1607304"/>
                <a:gridCol w="2640740"/>
              </a:tblGrid>
              <a:tr h="1087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71446" marR="171446" marT="91438" marB="91438" anchor="ctr">
                    <a:lnL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Technical</a:t>
                      </a:r>
                      <a:endParaRPr lang="en-US" sz="18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71446" marR="171446" marT="91438" marB="91438" anchor="ctr">
                    <a:lnL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Widely adopted web technologies and existing APIs.</a:t>
                      </a:r>
                      <a:endParaRPr lang="en-US" sz="18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71446" marR="171446" marT="91438" marB="91438" anchor="ctr">
                    <a:lnL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5"/>
                    </a:solidFill>
                  </a:tcPr>
                </a:tc>
              </a:tr>
              <a:tr h="13896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71446" marR="171446" marT="91438" marB="91438" anchor="ctr">
                    <a:lnL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Economic</a:t>
                      </a:r>
                      <a:endParaRPr lang="en-US" sz="18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71446" marR="171446" marT="91438" marB="91438" anchor="ctr">
                    <a:lnL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Low-cost prototype on open-source tools and free-tier infrastructure.</a:t>
                      </a:r>
                      <a:endParaRPr lang="en-US" sz="18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71446" marR="171446" marT="91438" marB="91438" anchor="ctr">
                    <a:lnL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5"/>
                    </a:solidFill>
                  </a:tcPr>
                </a:tc>
              </a:tr>
              <a:tr h="13896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71446" marR="171446" marT="91438" marB="91438" anchor="ctr">
                    <a:lnL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Operational</a:t>
                      </a:r>
                      <a:endParaRPr lang="en-US" sz="18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71446" marR="171446" marT="91438" marB="91438" anchor="ctr">
                    <a:lnL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0"/>
                        </a:rPr>
                        <a:t>Beginner-friendly interface with centralized planning tools.</a:t>
                      </a:r>
                      <a:endParaRPr lang="en-US" sz="18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71446" marR="171446" marT="91438" marB="91438" anchor="ctr">
                    <a:lnL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7" cap="flat" cmpd="sng" algn="ctr">
                      <a:solidFill>
                        <a:srgbClr val="E8E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5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427" y="2288381"/>
            <a:ext cx="285743" cy="2857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27" y="3376315"/>
            <a:ext cx="285743" cy="2857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27" y="4765973"/>
            <a:ext cx="285743" cy="2857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61981" y="6022737"/>
            <a:ext cx="4876678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Key consideration: trek information, weather and permits need reliable sourcing and periodic updates.</a:t>
            </a:r>
            <a:endParaRPr lang="en-US" sz="1150" dirty="0"/>
          </a:p>
        </p:txBody>
      </p:sp>
      <p:sp>
        <p:nvSpPr>
          <p:cNvPr id="10" name="Shape 4"/>
          <p:cNvSpPr/>
          <p:nvPr/>
        </p:nvSpPr>
        <p:spPr>
          <a:xfrm>
            <a:off x="6324442" y="1217116"/>
            <a:ext cx="5333867" cy="5408910"/>
          </a:xfrm>
          <a:prstGeom prst="rect">
            <a:avLst/>
          </a:prstGeom>
          <a:solidFill>
            <a:srgbClr val="234D36"/>
          </a:solidFill>
          <a:ln/>
        </p:spPr>
      </p:sp>
      <p:sp>
        <p:nvSpPr>
          <p:cNvPr id="11" name="Text 5"/>
          <p:cNvSpPr/>
          <p:nvPr/>
        </p:nvSpPr>
        <p:spPr>
          <a:xfrm>
            <a:off x="6553036" y="1448891"/>
            <a:ext cx="4876678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Four-stage path to expansion</a:t>
            </a:r>
            <a:endParaRPr lang="en-US" sz="2500" dirty="0"/>
          </a:p>
        </p:txBody>
      </p:sp>
      <p:sp>
        <p:nvSpPr>
          <p:cNvPr id="12" name="Text 6"/>
          <p:cNvSpPr/>
          <p:nvPr/>
        </p:nvSpPr>
        <p:spPr>
          <a:xfrm>
            <a:off x="6553036" y="2017216"/>
            <a:ext cx="4876678" cy="3719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Phase 1, MVP:</a:t>
            </a:r>
            <a:pPr algn="l"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 Curated trek catalog, recommendation engine, checklists, budget planner.</a:t>
            </a:r>
            <a:endParaRPr lang="en-US" sz="1800" dirty="0"/>
          </a:p>
          <a:p>
            <a:pPr algn="l"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Phase 2, Enhanced Experience:</a:t>
            </a:r>
            <a:pPr algn="l"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 User profiles, saved plans, maps, reviews, weather integration.</a:t>
            </a:r>
            <a:endParaRPr lang="en-US" sz="1800" dirty="0"/>
          </a:p>
          <a:p>
            <a:pPr algn="l"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Phase 3, Platform Expansion:</a:t>
            </a:r>
            <a:pPr algn="l"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 Verified operator partnerships, bookings, equipment rentals.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Phase 4, Adventure Ecosystem:</a:t>
            </a:r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 More destinations, outdoor activities, mobile apps.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540791"/>
            <a:ext cx="8000800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1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PROPOSED FUTURE EXTENSIONS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3387" y="825733"/>
            <a:ext cx="7467413" cy="448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150" b="1" spc="-63" kern="100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0"/>
              </a:rPr>
              <a:t>Creating Value Beyond the Trail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533387" y="1475849"/>
            <a:ext cx="746741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Making trekking preparation simpler, more accessible and better informed.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533387" y="2264569"/>
            <a:ext cx="2285943" cy="2874268"/>
          </a:xfrm>
          <a:prstGeom prst="roundRect">
            <a:avLst>
              <a:gd name="adj" fmla="val 500"/>
            </a:avLst>
          </a:prstGeom>
          <a:noFill/>
          <a:ln w="25399">
            <a:solidFill>
              <a:srgbClr val="54555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380" y="2518569"/>
            <a:ext cx="450640" cy="4506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7380" y="3104392"/>
            <a:ext cx="1777956" cy="320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95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Freemium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787380" y="3580085"/>
            <a:ext cx="1777956" cy="984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Free essential trek information, with optional premium planning tools.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124122" y="2264569"/>
            <a:ext cx="2285943" cy="2874268"/>
          </a:xfrm>
          <a:prstGeom prst="roundRect">
            <a:avLst>
              <a:gd name="adj" fmla="val 500"/>
            </a:avLst>
          </a:prstGeom>
          <a:noFill/>
          <a:ln w="25399">
            <a:solidFill>
              <a:srgbClr val="54555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115" y="2518569"/>
            <a:ext cx="450640" cy="4506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78115" y="3104392"/>
            <a:ext cx="1777956" cy="640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95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Affiliate Partnerships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3378115" y="3900562"/>
            <a:ext cx="1777956" cy="984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Referral commissions via verified operators and travel providers.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714857" y="2264569"/>
            <a:ext cx="2285943" cy="2874268"/>
          </a:xfrm>
          <a:prstGeom prst="roundRect">
            <a:avLst>
              <a:gd name="adj" fmla="val 500"/>
            </a:avLst>
          </a:prstGeom>
          <a:noFill/>
          <a:ln w="25399">
            <a:solidFill>
              <a:srgbClr val="545557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851" y="2518569"/>
            <a:ext cx="450640" cy="4506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68851" y="3104392"/>
            <a:ext cx="1777956" cy="640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950" dirty="0">
                <a:solidFill>
                  <a:srgbClr val="E1E5CD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Gear &amp; Rental Partnerships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5968851" y="3900562"/>
            <a:ext cx="1777956" cy="738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Equipment sellers and rental providers.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33387" y="5346749"/>
            <a:ext cx="8000800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1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AUDIENCE</a:t>
            </a:r>
            <a:endParaRPr lang="en-US" sz="11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87" y="5719762"/>
            <a:ext cx="450640" cy="4506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3387" y="6300366"/>
            <a:ext cx="1638259" cy="492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First-time trekkers</a:t>
            </a:r>
            <a:endParaRPr lang="en-US" sz="15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438" y="5719762"/>
            <a:ext cx="450640" cy="45065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476438" y="6300366"/>
            <a:ext cx="1638259" cy="492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Students and budget travelers</a:t>
            </a:r>
            <a:endParaRPr lang="en-US" sz="15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489" y="5719762"/>
            <a:ext cx="450640" cy="45065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419489" y="6300366"/>
            <a:ext cx="1638259" cy="492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Adventure enthusiasts</a:t>
            </a:r>
            <a:endParaRPr lang="en-US" sz="15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2541" y="5719762"/>
            <a:ext cx="450640" cy="45065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362541" y="6300366"/>
            <a:ext cx="1638259" cy="492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Trekking communities</a:t>
            </a:r>
            <a:endParaRPr lang="en-US" sz="15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67573" y="533400"/>
            <a:ext cx="2590735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889496"/>
            <a:ext cx="6781630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THE PROMISE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3387" y="1186023"/>
            <a:ext cx="6248244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4000" b="1" spc="-80" kern="100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0"/>
              </a:rPr>
              <a:t>Making Every Trek Begin with Confidence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33387" y="2523827"/>
            <a:ext cx="6248244" cy="1737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Centralized, searchable trek information</a:t>
            </a:r>
            <a:endParaRPr lang="en-US" sz="1800" dirty="0"/>
          </a:p>
          <a:p>
            <a:pPr algn="l" marL="365760" indent="-36576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Personalized trek selection and preparation roadmap</a:t>
            </a:r>
            <a:endParaRPr lang="en-US" sz="1800" dirty="0"/>
          </a:p>
          <a:p>
            <a:pPr algn="l" marL="365760" indent="-36576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Clear equipment, budget and travel guidance</a:t>
            </a:r>
            <a:endParaRPr lang="en-US" sz="1800" dirty="0"/>
          </a:p>
          <a:p>
            <a:pPr algn="l" marL="365760" indent="-36576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Better accessibility of trek planning for beginners</a:t>
            </a:r>
            <a:endParaRPr lang="en-US" sz="1800" dirty="0"/>
          </a:p>
          <a:p>
            <a:pPr algn="l" marL="365760" indent="-36576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Extensible foundation for future adventure services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33387" y="4468185"/>
            <a:ext cx="6248244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Pinnacle Paths bridges the gap between the desire to explore and the knowledge required to begin.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387" y="5278009"/>
            <a:ext cx="6781630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0"/>
              </a:rPr>
              <a:t>Discover → Prepare → Explore.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3387" y="5790267"/>
            <a:ext cx="678163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C2C4B5"/>
                </a:solidFill>
                <a:latin typeface="Outfit Medium" pitchFamily="34" charset="0"/>
                <a:ea typeface="Outfit Medium" pitchFamily="34" charset="-122"/>
                <a:cs typeface="Outfit Medium" pitchFamily="34" charset="0"/>
              </a:rPr>
              <a:t>Thank You.</a:t>
            </a:r>
            <a:endParaRPr lang="en-US" sz="11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2026-10-26T19:41:29Z</dcterms:created>
  <dcterms:modified xsi:type="dcterms:W3CDTF">2026-10-26T19:41:29Z</dcterms:modified>
</cp:coreProperties>
</file>
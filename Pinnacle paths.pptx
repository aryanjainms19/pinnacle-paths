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5143500" type="screen16x9"/>
  <p:notesSz cx="5143500" cy="9144000"/>
  <p:embeddedFontLst>
    <p:embeddedFont>
      <p:font typeface="Brush Script MT" pitchFamily="66" charset="0"/>
      <p:italic r:id="rId15"/>
    </p:embeddedFont>
    <p:embeddedFont>
      <p:font typeface="Nobile" charset="0"/>
      <p:regular r:id="rId16"/>
    </p:embeddedFont>
    <p:embeddedFont>
      <p:font typeface="Rage Italic" pitchFamily="66" charset="0"/>
      <p:regular r:id="rId17"/>
    </p:embeddedFont>
    <p:embeddedFont>
      <p:font typeface="Nobile Bold" charset="0"/>
      <p:regular r:id="rId18"/>
    </p:embeddedFont>
    <p:embeddedFont>
      <p:font typeface="Franklin Gothic Book" pitchFamily="34" charset="0"/>
      <p:regular r:id="rId19"/>
      <p:italic r:id="rId20"/>
    </p:embeddedFont>
    <p:embeddedFont>
      <p:font typeface="Corben" charset="0"/>
      <p:regular r:id="rId21"/>
    </p:embeddedFont>
    <p:embeddedFont>
      <p:font typeface="Berlin Sans FB Demi" pitchFamily="34" charset="0"/>
      <p:bold r:id="rId22"/>
    </p:embeddedFont>
    <p:embeddedFont>
      <p:font typeface="Castellar" pitchFamily="18" charset="0"/>
      <p:regular r:id="rId23"/>
    </p:embeddedFont>
    <p:embeddedFont>
      <p:font typeface="Constantia" pitchFamily="18" charset="0"/>
      <p:regular r:id="rId24"/>
      <p:bold r:id="rId25"/>
      <p:italic r:id="rId26"/>
      <p:boldItalic r:id="rId27"/>
    </p:embeddedFont>
    <p:embeddedFont>
      <p:font typeface="Comic Sans MS" pitchFamily="66" charset="0"/>
      <p:regular r:id="rId28"/>
      <p:bold r:id="rId29"/>
      <p:italic r:id="rId30"/>
      <p:boldItalic r:id="rId31"/>
    </p:embeddedFont>
    <p:embeddedFont>
      <p:font typeface="Calibri" pitchFamily="34" charset="0"/>
      <p:regular r:id="rId32"/>
      <p:bold r:id="rId33"/>
      <p:italic r:id="rId34"/>
      <p:boldItalic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16" y="-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2995F-059C-42F8-8744-C7137F2B64D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1B58E-1B40-48FE-9EE3-CD208604A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2" y="4213330"/>
            <a:ext cx="7382935" cy="402908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762743"/>
            <a:ext cx="7179733" cy="362373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1" y="757238"/>
            <a:ext cx="7179733" cy="3623732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2" y="526552"/>
            <a:ext cx="567831" cy="425873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926299" y="491424"/>
            <a:ext cx="425196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346201"/>
            <a:ext cx="5723468" cy="137106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1" y="2802467"/>
            <a:ext cx="5712179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4018194"/>
            <a:ext cx="1213821" cy="273844"/>
          </a:xfrm>
        </p:spPr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5" y="4018194"/>
            <a:ext cx="503484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1" y="4018194"/>
            <a:ext cx="554023" cy="273844"/>
          </a:xfrm>
        </p:spPr>
        <p:txBody>
          <a:bodyPr/>
          <a:lstStyle>
            <a:lvl1pPr algn="ctr">
              <a:defRPr/>
            </a:lvl1pPr>
          </a:lstStyle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1679573"/>
            <a:ext cx="6254044" cy="1021556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8" y="2794001"/>
            <a:ext cx="6231467" cy="982133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1591055"/>
            <a:ext cx="3200400" cy="27020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1589485"/>
            <a:ext cx="3200400" cy="27039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70" y="1591734"/>
            <a:ext cx="2939521" cy="615156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1591733"/>
            <a:ext cx="2944368" cy="61722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208276"/>
            <a:ext cx="3227832" cy="20848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208610"/>
            <a:ext cx="3227832" cy="20848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8" y="4543528"/>
            <a:ext cx="7721601" cy="402908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3" y="453872"/>
            <a:ext cx="3788941" cy="429172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7" y="452628"/>
            <a:ext cx="3788941" cy="4291722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5" y="432651"/>
            <a:ext cx="3788941" cy="429172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9" y="432054"/>
            <a:ext cx="3788941" cy="4291722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7" y="220465"/>
            <a:ext cx="567831" cy="425873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350513" y="179006"/>
            <a:ext cx="425196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1515032"/>
            <a:ext cx="3064827" cy="112727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863245"/>
            <a:ext cx="3020792" cy="3469117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6" y="2717811"/>
            <a:ext cx="3048891" cy="15753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9" y="4414254"/>
            <a:ext cx="1213821" cy="273844"/>
          </a:xfrm>
        </p:spPr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5" y="4371946"/>
            <a:ext cx="352260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4" y="4422721"/>
            <a:ext cx="554023" cy="273844"/>
          </a:xfrm>
        </p:spPr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8" y="4543528"/>
            <a:ext cx="7721601" cy="402908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5" y="432651"/>
            <a:ext cx="3788941" cy="429172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9" y="431827"/>
            <a:ext cx="3788941" cy="4291722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3" y="453872"/>
            <a:ext cx="3788941" cy="429172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9" y="452940"/>
            <a:ext cx="3788941" cy="4291722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7" y="220465"/>
            <a:ext cx="567831" cy="425873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350513" y="179006"/>
            <a:ext cx="425196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1515618"/>
            <a:ext cx="3063240" cy="1124712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6" y="905454"/>
            <a:ext cx="2913863" cy="3404559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2715768"/>
            <a:ext cx="3044952" cy="157734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7" y="4416553"/>
            <a:ext cx="1213821" cy="273844"/>
          </a:xfrm>
        </p:spPr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70" y="4373278"/>
            <a:ext cx="331904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90" y="4425020"/>
            <a:ext cx="554023" cy="273844"/>
          </a:xfrm>
        </p:spPr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2" y="694268"/>
            <a:ext cx="1430867" cy="35729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2" y="829735"/>
            <a:ext cx="5178779" cy="3302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1" y="4551997"/>
            <a:ext cx="7920991" cy="402908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431483"/>
            <a:ext cx="7696200" cy="428625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432054"/>
            <a:ext cx="7696200" cy="4286250"/>
          </a:xfrm>
          <a:prstGeom prst="rect">
            <a:avLst/>
          </a:prstGeom>
          <a:blipFill dpi="0" rotWithShape="1">
            <a:blip r:embed="rId15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1435684">
            <a:off x="543742" y="204818"/>
            <a:ext cx="567831" cy="425873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4096196">
            <a:off x="8185945" y="152756"/>
            <a:ext cx="425196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4" y="613187"/>
            <a:ext cx="6965245" cy="901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1" y="1589443"/>
            <a:ext cx="6196405" cy="27028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9" y="4356864"/>
            <a:ext cx="12138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7C3F878-F5E8-489B-AC8A-64F2A7E22C28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4356864"/>
            <a:ext cx="55401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3" y="4356864"/>
            <a:ext cx="55402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651FC063-5EA9-49AF-AFAF-D68C9E82B23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openxmlformats.org/officeDocument/2006/relationships/image" Target="../media/image-7-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-7-3.svg"/><Relationship Id="rId4" Type="http://schemas.openxmlformats.org/officeDocument/2006/relationships/image" Target="../media/image14.png"/><Relationship Id="rId9" Type="http://schemas.openxmlformats.org/officeDocument/2006/relationships/image" Target="../media/image-7-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-9-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9-3.svg"/><Relationship Id="rId5" Type="http://schemas.openxmlformats.org/officeDocument/2006/relationships/image" Target="../media/image-9-3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10-2.svg"/><Relationship Id="rId5" Type="http://schemas.openxmlformats.org/officeDocument/2006/relationships/image" Target="../media/image-10-2.svg"/><Relationship Id="rId4" Type="http://schemas.openxmlformats.org/officeDocument/2006/relationships/image" Target="../media/image-10-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1714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ELEVATE YOUR ASCENT.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2730"/>
            <a:ext cx="4722763" cy="71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  <a:latin typeface="Berlin Sans FB Demi" pitchFamily="34" charset="0"/>
                <a:ea typeface="Nobile" pitchFamily="34" charset="-122"/>
                <a:cs typeface="Nobile" pitchFamily="34" charset="-120"/>
              </a:rPr>
              <a:t>Pinnacle </a:t>
            </a:r>
            <a:r>
              <a:rPr lang="en-US" b="1" dirty="0">
                <a:solidFill>
                  <a:srgbClr val="FF0000"/>
                </a:solidFill>
                <a:latin typeface="Berlin Sans FB Demi" pitchFamily="34" charset="0"/>
                <a:ea typeface="Nobile" pitchFamily="34" charset="-122"/>
                <a:cs typeface="Nobile" pitchFamily="34" charset="-120"/>
              </a:rPr>
              <a:t>Paths</a:t>
            </a:r>
            <a:r>
              <a:rPr lang="en-US" b="1" dirty="0">
                <a:solidFill>
                  <a:srgbClr val="404155"/>
                </a:solidFill>
                <a:latin typeface="Berlin Sans FB Demi" pitchFamily="34" charset="0"/>
                <a:ea typeface="Nobile" pitchFamily="34" charset="-122"/>
                <a:cs typeface="Nobile" pitchFamily="34" charset="-120"/>
              </a:rPr>
              <a:t>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erlin Sans FB Demi" pitchFamily="34" charset="0"/>
                <a:ea typeface="Nobile" pitchFamily="34" charset="-122"/>
                <a:cs typeface="Nobile" pitchFamily="34" charset="-120"/>
              </a:rPr>
              <a:t>The Premier Trail Discovery &amp; Management Platform.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Berlin Sans FB Dem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0" y="450503"/>
            <a:ext cx="2019299" cy="68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Castellar" pitchFamily="18" charset="0"/>
                <a:ea typeface="Corben" pitchFamily="34" charset="-122"/>
                <a:cs typeface="Corben" pitchFamily="34" charset="-120"/>
              </a:rPr>
              <a:t>The Team</a:t>
            </a:r>
            <a:endParaRPr lang="en-US" sz="3600" dirty="0">
              <a:latin typeface="Castellar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5310" y="947191"/>
            <a:ext cx="2622724" cy="1800250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510" y="113347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i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Aryan Jain</a:t>
            </a:r>
            <a:endParaRPr lang="en-US" i="1" dirty="0"/>
          </a:p>
        </p:txBody>
      </p:sp>
      <p:sp>
        <p:nvSpPr>
          <p:cNvPr id="5" name="Text 3"/>
          <p:cNvSpPr/>
          <p:nvPr/>
        </p:nvSpPr>
        <p:spPr>
          <a:xfrm>
            <a:off x="841510" y="139672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 </a:t>
            </a:r>
            <a:r>
              <a:rPr lang="en-US" sz="1600" i="1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Leader</a:t>
            </a:r>
            <a:r>
              <a:rPr lang="en-US" sz="1100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/>
            </a:r>
            <a:br>
              <a:rPr lang="en-US" sz="1100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</a:b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30151" y="2825948"/>
            <a:ext cx="2622724" cy="1800250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6672" y="295371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i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Anush</a:t>
            </a: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i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Sharma</a:t>
            </a:r>
          </a:p>
        </p:txBody>
      </p:sp>
      <p:sp>
        <p:nvSpPr>
          <p:cNvPr id="8" name="Text 6"/>
          <p:cNvSpPr/>
          <p:nvPr/>
        </p:nvSpPr>
        <p:spPr>
          <a:xfrm>
            <a:off x="2076670" y="3175173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Presentation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500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&amp; </a:t>
            </a:r>
            <a:r>
              <a:rPr lang="en-US" sz="1500" i="1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Strategy</a:t>
            </a:r>
            <a:endParaRPr lang="en-US" sz="1500" i="1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48658" y="947191"/>
            <a:ext cx="2622724" cy="1800250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5179" y="103710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i="1" dirty="0" err="1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Arihant</a:t>
            </a:r>
            <a:r>
              <a:rPr lang="en-US" sz="1350" dirty="0" smtClean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i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Singh</a:t>
            </a:r>
          </a:p>
        </p:txBody>
      </p:sp>
      <p:sp>
        <p:nvSpPr>
          <p:cNvPr id="11" name="Text 9"/>
          <p:cNvSpPr/>
          <p:nvPr/>
        </p:nvSpPr>
        <p:spPr>
          <a:xfrm>
            <a:off x="4294583" y="1341064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Research</a:t>
            </a:r>
            <a:r>
              <a:rPr lang="en-US" sz="15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500" i="1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Analyst &amp; API</a:t>
            </a:r>
            <a:endParaRPr lang="en-US" sz="1500" i="1" dirty="0"/>
          </a:p>
        </p:txBody>
      </p:sp>
      <p:sp>
        <p:nvSpPr>
          <p:cNvPr id="12" name="Shape 7"/>
          <p:cNvSpPr/>
          <p:nvPr/>
        </p:nvSpPr>
        <p:spPr>
          <a:xfrm>
            <a:off x="5313498" y="2825426"/>
            <a:ext cx="2622724" cy="1800250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4" name="TextBox 13"/>
          <p:cNvSpPr txBox="1"/>
          <p:nvPr/>
        </p:nvSpPr>
        <p:spPr>
          <a:xfrm>
            <a:off x="5460019" y="2953718"/>
            <a:ext cx="183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Anupam</a:t>
            </a:r>
            <a:r>
              <a:rPr lang="en-IN" dirty="0" smtClean="0"/>
              <a:t> Mishra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60020" y="3408535"/>
            <a:ext cx="199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UI &amp; UX Designer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055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66144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Where can young, modern hikers find a single, reliable hub to discover curated trails and essential planning resources?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How can a centralized platform make outdoor adventure planning seamless, safe, and accessible for the next generation?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52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Solution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6484"/>
            <a:ext cx="5209729" cy="2930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9748" y="916484"/>
            <a:ext cx="2688059" cy="18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Comic Sans MS" pitchFamily="66" charset="0"/>
                <a:ea typeface="Nobile Bold" pitchFamily="34" charset="-122"/>
                <a:cs typeface="Nobile Bold" pitchFamily="34" charset="-120"/>
              </a:rPr>
              <a:t>A specialized webapp can aggregate crowd-sourced real-time trail updates, interactive offline maps, and verified difficulty ratings tailored specifically for Gen Z travelers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6119" y="4123172"/>
            <a:ext cx="3012012" cy="734169"/>
          </a:xfrm>
          <a:prstGeom prst="roundRect">
            <a:avLst>
              <a:gd name="adj" fmla="val 5956"/>
            </a:avLst>
          </a:prstGeom>
          <a:solidFill>
            <a:schemeClr val="accent5">
              <a:lumMod val="40000"/>
              <a:lumOff val="60000"/>
              <a:alpha val="95000"/>
            </a:scheme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512" y="4182255"/>
            <a:ext cx="242947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Community Forums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512" y="4450535"/>
            <a:ext cx="242947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 with fellow adventurers for real-time trail insights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4543" y="4123172"/>
            <a:ext cx="3036650" cy="734169"/>
          </a:xfrm>
          <a:prstGeom prst="roundRect">
            <a:avLst>
              <a:gd name="adj" fmla="val 5956"/>
            </a:avLst>
          </a:prstGeom>
          <a:solidFill>
            <a:schemeClr val="accent5">
              <a:lumMod val="40000"/>
              <a:lumOff val="60000"/>
              <a:alpha val="95000"/>
            </a:scheme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74232" y="4182255"/>
            <a:ext cx="24295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Offline</a:t>
            </a: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96937" y="4404234"/>
            <a:ext cx="2678361" cy="45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Navigate confidently without cellular connectivity.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05128" y="2839139"/>
            <a:ext cx="2666256" cy="818461"/>
          </a:xfrm>
          <a:prstGeom prst="roundRect">
            <a:avLst>
              <a:gd name="adj" fmla="val 5956"/>
            </a:avLst>
          </a:prstGeom>
          <a:solidFill>
            <a:schemeClr val="accent5">
              <a:lumMod val="40000"/>
              <a:lumOff val="60000"/>
              <a:alpha val="95000"/>
            </a:schemeClr>
          </a:solidFill>
          <a:ln w="14288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4371" y="2867037"/>
            <a:ext cx="242947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Eco-Conscious Tips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64371" y="3206223"/>
            <a:ext cx="242947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Plan sustainable treks that protect natural environments.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496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Standardized Difficulty Framework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7299"/>
            <a:ext cx="4075881" cy="558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645" y="1822847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TIER 1: LEISURE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5645" y="2123256"/>
            <a:ext cx="379682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Well-maintained, minimal elevation paths. Optimal for casual recreation, family outings, and low-impact activity.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27299"/>
            <a:ext cx="4075881" cy="558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1526" y="1822847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TIER 2: MODERATE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1526" y="2123256"/>
            <a:ext cx="37968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Steady inclines and uneven terrain. Requires baseline cardiovascular fitness and purpose-built footwear.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27152"/>
            <a:ext cx="4075881" cy="558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5645" y="3622700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TIER 3: ADVANCED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5645" y="3923109"/>
            <a:ext cx="37968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Aggressive elevation profiles and rock scrambling. Demands high endurance and navigational competence.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927152"/>
            <a:ext cx="4075881" cy="558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1526" y="3622700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TIER 4: EXTREME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11526" y="3923109"/>
            <a:ext cx="379682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Technical alpine environments. Strictly mandates specialized equipment and advanced wilderness survival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98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Data-Driven Itinerary Generation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63092"/>
            <a:ext cx="5177582" cy="2272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4425" y="3382135"/>
            <a:ext cx="907586" cy="140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Input</a:t>
            </a:r>
            <a:r>
              <a:rPr lang="en-US" sz="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Metrics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74425" y="3562281"/>
            <a:ext cx="907586" cy="224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Fitness, time, terrain prefs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96270" y="3088258"/>
            <a:ext cx="907586" cy="280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Generate Itinerary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22647" y="3415172"/>
            <a:ext cx="907586" cy="33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Personalized, precision-matched route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656016" y="2001432"/>
            <a:ext cx="907586" cy="280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Cross-Reference Data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31117" y="2551487"/>
            <a:ext cx="907586" cy="224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 thousands of topological points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24339" y="1527200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Computational Precision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24339" y="1890415"/>
            <a:ext cx="2628230" cy="239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Pinnacle Paths replaces manual searching with computational precision. Our proprietary algorithm evaluates user fitness metrics, time constraints, and terrain preferences.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cross-referencing thousands of topological data points, the system instantly generates an optimized, personalized hiking itinerary that aligns perfectly with user parameters.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98797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Uncompromised Safety Infrastructure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1397719"/>
            <a:ext cx="2310929" cy="1837581"/>
          </a:xfrm>
          <a:prstGeom prst="roundRect">
            <a:avLst>
              <a:gd name="adj" fmla="val 273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49464" y="1522065"/>
            <a:ext cx="358825" cy="358825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148138" y="1620738"/>
            <a:ext cx="161479" cy="1614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9464" y="1981795"/>
            <a:ext cx="206223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True Offline Topography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049464" y="2229148"/>
            <a:ext cx="2062237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High-fidelity maps pre-download to the device. Geo-positioning maintained exclusively via satellite uplink — fully independent of cellular networks.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336953" y="1397719"/>
            <a:ext cx="2310929" cy="1837581"/>
          </a:xfrm>
          <a:prstGeom prst="roundRect">
            <a:avLst>
              <a:gd name="adj" fmla="val 273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61299" y="1522065"/>
            <a:ext cx="358825" cy="358825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59972" y="1620738"/>
            <a:ext cx="161479" cy="1614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61299" y="1981795"/>
            <a:ext cx="206223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Micro-Climate Forecasting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461299" y="2229148"/>
            <a:ext cx="2062237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Preemptive alerts for localized atmospheric shifts based on user elevation. Because rapidly changing mountain weather poses severe, life-threatening risks.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25119" y="3336206"/>
            <a:ext cx="4722763" cy="1308497"/>
          </a:xfrm>
          <a:prstGeom prst="roundRect">
            <a:avLst>
              <a:gd name="adj" fmla="val 3839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49464" y="3460552"/>
            <a:ext cx="358825" cy="358825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148138" y="3559225"/>
            <a:ext cx="161479" cy="1614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49464" y="3920282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Verified Condition Reports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049464" y="4167634"/>
            <a:ext cx="4474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Real-time, crowdsourced intelligence from verified users who traversed the route within the past 24 hours, mitigating unforeseen environmental hazards.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2427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Our Vision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137720" y="2139330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believe the wilderness should be accessible through accurate, reliable information.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979861"/>
            <a:ext cx="19050" cy="772567"/>
          </a:xfrm>
          <a:prstGeom prst="roundRect">
            <a:avLst>
              <a:gd name="adj" fmla="val 50000"/>
            </a:avLst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291189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Pinnacle Paths is committed to democratizing exploration by engineering the safest, most intelligent digital tools for the outdoor sector. The future of adventure belongs to those with the best information.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98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Performance Analytics &amp; Milestones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21705"/>
            <a:ext cx="5200278" cy="2925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146" y="1934766"/>
            <a:ext cx="267042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Quantifiable Achievements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2146" y="2208237"/>
            <a:ext cx="2670423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Pinnacle Paths transforms physical exertion into trackable, measurable data. The application meticulously logs aggregate vertical ascent, distance traversed, and specific routes completed.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81831" y="4143003"/>
            <a:ext cx="2653531" cy="5985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812" y="4157290"/>
            <a:ext cx="249555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Vertical Ascent Logging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9812" y="4393332"/>
            <a:ext cx="249555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cumulative elevation gain across every session.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238054" y="4143003"/>
            <a:ext cx="2653531" cy="5985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96035" y="4157290"/>
            <a:ext cx="249555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Verified Digital Milestones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396035" y="4393332"/>
            <a:ext cx="249555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Earn badges for significant accomplishments and build a verified outdoor portfolio.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994276" y="4143003"/>
            <a:ext cx="2653531" cy="5985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2257" y="4157290"/>
            <a:ext cx="2495550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Long-Term Engagement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152257" y="4393332"/>
            <a:ext cx="249555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Gamified progress fosters consistent return and community recognition.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43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Enterprise-Grade 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850827"/>
            <a:ext cx="2622724" cy="2168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195716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241778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Frontend Framework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724299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on React Native — a robust cross-platform framework delivering a responsive, latency-free experience across both iOS and Android ecosystems.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260601" y="1850827"/>
            <a:ext cx="2622724" cy="2168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195716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1410" y="241778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Cloud Infrastructure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72429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Integrated with highly scalable cloud databases capable of serving heavy topological data with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99.9% uptime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025083" y="1850827"/>
            <a:ext cx="2622724" cy="21683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195716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241778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Cryptographic Security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72429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encryption for all user telemetry and location data, adhering to the highest standards of data privacy.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608" y="164592"/>
            <a:ext cx="54864" cy="566928"/>
          </a:xfrm>
          <a:prstGeom prst="rect">
            <a:avLst/>
          </a:prstGeom>
          <a:solidFill>
            <a:srgbClr val="1F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750"/>
                </a:solidFill>
                <a:latin typeface="Aptos Display"/>
              </a:rPr>
              <a:t>Research Papers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53696"/>
              </p:ext>
            </p:extLst>
          </p:nvPr>
        </p:nvGraphicFramePr>
        <p:xfrm>
          <a:off x="347472" y="164592"/>
          <a:ext cx="8552688" cy="4728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347"/>
                <a:gridCol w="1275705"/>
                <a:gridCol w="964561"/>
                <a:gridCol w="4321075"/>
              </a:tblGrid>
              <a:tr h="191039"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FFFFFF"/>
                          </a:solidFill>
                          <a:latin typeface="Aptos"/>
                        </a:rPr>
                        <a:t>RESEARCH PAPER</a:t>
                      </a:r>
                    </a:p>
                  </a:txBody>
                  <a:tcPr marL="64008" marR="45720" marT="36576" marB="18288">
                    <a:solidFill>
                      <a:srgbClr val="4370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AUTHORS</a:t>
                      </a:r>
                    </a:p>
                  </a:txBody>
                  <a:tcPr marL="64008" marR="45720" marT="36576" marB="18288">
                    <a:solidFill>
                      <a:srgbClr val="4370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PUBLISHED</a:t>
                      </a:r>
                    </a:p>
                  </a:txBody>
                  <a:tcPr marL="64008" marR="45720" marT="36576" marB="18288">
                    <a:solidFill>
                      <a:srgbClr val="4370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FFFFFF"/>
                          </a:solidFill>
                          <a:latin typeface="Aptos"/>
                        </a:rPr>
                        <a:t>KEY FINDINGS (RELATIVE TO PINNACLE PATHS)</a:t>
                      </a:r>
                    </a:p>
                  </a:txBody>
                  <a:tcPr marL="64008" marR="45720" marT="36576" marB="18288">
                    <a:solidFill>
                      <a:srgbClr val="4370BF"/>
                    </a:solidFill>
                  </a:tcPr>
                </a:tc>
              </a:tr>
              <a:tr h="18199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dirty="0" err="1" smtClean="0">
                          <a:solidFill>
                            <a:srgbClr val="141414"/>
                          </a:solidFill>
                          <a:latin typeface="Aptos"/>
                        </a:rPr>
                        <a:t>Gamifi</a:t>
                      </a:r>
                      <a:r>
                        <a:rPr lang="en-IN" sz="1000" dirty="0" smtClean="0">
                          <a:solidFill>
                            <a:srgbClr val="141414"/>
                          </a:solidFill>
                          <a:latin typeface="Aptos"/>
                        </a:rPr>
                        <a:t>c</a:t>
                      </a:r>
                      <a:r>
                        <a:rPr sz="1000" dirty="0" err="1" smtClean="0">
                          <a:solidFill>
                            <a:srgbClr val="141414"/>
                          </a:solidFill>
                          <a:latin typeface="Aptos"/>
                        </a:rPr>
                        <a:t>ation</a:t>
                      </a:r>
                      <a:r>
                        <a:rPr sz="1000" dirty="0" smtClean="0">
                          <a:solidFill>
                            <a:srgbClr val="141414"/>
                          </a:solidFill>
                          <a:latin typeface="Aptos"/>
                        </a:rPr>
                        <a:t> </a:t>
                      </a:r>
                      <a:r>
                        <a:rPr sz="1000" dirty="0">
                          <a:solidFill>
                            <a:srgbClr val="141414"/>
                          </a:solidFill>
                          <a:latin typeface="Aptos"/>
                        </a:rPr>
                        <a:t>of Walking in Nature: A Field Experiment with Pokémon GO Routes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dirty="0" smtClean="0">
                          <a:solidFill>
                            <a:srgbClr val="141414"/>
                          </a:solidFill>
                          <a:latin typeface="Aptos"/>
                        </a:rPr>
                        <a:t>Sa</a:t>
                      </a:r>
                      <a:r>
                        <a:rPr lang="en-IN" sz="1200" dirty="0" smtClean="0">
                          <a:solidFill>
                            <a:srgbClr val="141414"/>
                          </a:solidFill>
                          <a:latin typeface="Aptos"/>
                        </a:rPr>
                        <a:t>m</a:t>
                      </a:r>
                      <a:r>
                        <a:rPr sz="1200" dirty="0" err="1" smtClean="0">
                          <a:solidFill>
                            <a:srgbClr val="141414"/>
                          </a:solidFill>
                          <a:latin typeface="Aptos"/>
                        </a:rPr>
                        <a:t>uli</a:t>
                      </a:r>
                      <a:r>
                        <a:rPr sz="1200" dirty="0" smtClean="0">
                          <a:solidFill>
                            <a:srgbClr val="141414"/>
                          </a:solidFill>
                          <a:latin typeface="Aptos"/>
                        </a:rPr>
                        <a:t> La</a:t>
                      </a:r>
                      <a:r>
                        <a:rPr lang="en-IN" sz="1200" dirty="0" smtClean="0">
                          <a:solidFill>
                            <a:srgbClr val="141414"/>
                          </a:solidFill>
                          <a:latin typeface="Aptos"/>
                        </a:rPr>
                        <a:t>a</a:t>
                      </a:r>
                      <a:r>
                        <a:rPr sz="1200" dirty="0" smtClean="0">
                          <a:solidFill>
                            <a:srgbClr val="141414"/>
                          </a:solidFill>
                          <a:latin typeface="Aptos"/>
                        </a:rPr>
                        <a:t>to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Sampsa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Rauti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, Bastian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Kordyaka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Konstantinos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Papangelis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Sangwon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 Jung,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Timo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Nummenmaa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,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Juho</a:t>
                      </a: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 </a:t>
                      </a:r>
                      <a:r>
                        <a:rPr sz="1200" dirty="0" err="1">
                          <a:solidFill>
                            <a:srgbClr val="141414"/>
                          </a:solidFill>
                          <a:latin typeface="Aptos"/>
                        </a:rPr>
                        <a:t>Hamari</a:t>
                      </a:r>
                      <a:endParaRPr sz="1200" dirty="0">
                        <a:solidFill>
                          <a:srgbClr val="141414"/>
                        </a:solidFill>
                        <a:latin typeface="Aptos"/>
                      </a:endParaRP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October 18, 2024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 err="1">
                          <a:solidFill>
                            <a:srgbClr val="141414"/>
                          </a:solidFill>
                          <a:latin typeface="Aptos"/>
                        </a:rPr>
                        <a:t>Gamified</a:t>
                      </a: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 map-based apps can encourage nature exploration. Rewards, proximity, and scenery influence route popularity—supporting engaging trail discovery.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</a:tr>
              <a:tr h="9449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dirty="0">
                          <a:solidFill>
                            <a:srgbClr val="141414"/>
                          </a:solidFill>
                          <a:latin typeface="Aptos"/>
                        </a:rPr>
                        <a:t>Urban Physical Environments Promoting Active Leisure Travel: An Empirical Study Using </a:t>
                      </a:r>
                      <a:r>
                        <a:rPr sz="1000" dirty="0" err="1">
                          <a:solidFill>
                            <a:srgbClr val="141414"/>
                          </a:solidFill>
                          <a:latin typeface="Aptos"/>
                        </a:rPr>
                        <a:t>Crowdsourced</a:t>
                      </a:r>
                      <a:r>
                        <a:rPr sz="1000" dirty="0">
                          <a:solidFill>
                            <a:srgbClr val="141414"/>
                          </a:solidFill>
                          <a:latin typeface="Aptos"/>
                        </a:rPr>
                        <a:t> GPS Tracks and Geographic Big Data from Multiple Sources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MDPI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April 28, 2024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 err="1">
                          <a:solidFill>
                            <a:srgbClr val="141414"/>
                          </a:solidFill>
                          <a:latin typeface="Aptos"/>
                        </a:rPr>
                        <a:t>Crowdsourced</a:t>
                      </a: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 GPS data shows how environmental factors influence walking, cycling, and running routes—supporting data-driven trail recommendations.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</a:tr>
              <a:tr h="88665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dirty="0">
                          <a:solidFill>
                            <a:srgbClr val="141414"/>
                          </a:solidFill>
                          <a:latin typeface="Aptos"/>
                        </a:rPr>
                        <a:t>A Trail-Based Approach Using </a:t>
                      </a:r>
                      <a:r>
                        <a:rPr sz="1000" dirty="0" err="1">
                          <a:solidFill>
                            <a:srgbClr val="141414"/>
                          </a:solidFill>
                          <a:latin typeface="Aptos"/>
                        </a:rPr>
                        <a:t>Crowdsourced</a:t>
                      </a:r>
                      <a:r>
                        <a:rPr sz="1000" dirty="0">
                          <a:solidFill>
                            <a:srgbClr val="141414"/>
                          </a:solidFill>
                          <a:latin typeface="Aptos"/>
                        </a:rPr>
                        <a:t> Data to Assess Recreationists' Preferences for Landscape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Chai-</a:t>
                      </a:r>
                      <a:r>
                        <a:rPr sz="1400" dirty="0" err="1">
                          <a:solidFill>
                            <a:srgbClr val="141414"/>
                          </a:solidFill>
                          <a:latin typeface="Aptos"/>
                        </a:rPr>
                        <a:t>allah</a:t>
                      </a: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 et al.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2023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 err="1">
                          <a:solidFill>
                            <a:srgbClr val="141414"/>
                          </a:solidFill>
                          <a:latin typeface="Aptos"/>
                        </a:rPr>
                        <a:t>Crowdsourced</a:t>
                      </a: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 outdoor platforms help identify recreation preferences. Scenery, enjoyment, landscape, and physical effort shape outdoor experiences.</a:t>
                      </a:r>
                    </a:p>
                  </a:txBody>
                  <a:tcPr marL="64008" marR="45720" marB="27432">
                    <a:solidFill>
                      <a:srgbClr val="BCCCF0"/>
                    </a:solidFill>
                  </a:tcPr>
                </a:tc>
              </a:tr>
              <a:tr h="682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dirty="0">
                          <a:solidFill>
                            <a:srgbClr val="141414"/>
                          </a:solidFill>
                          <a:latin typeface="Aptos"/>
                        </a:rPr>
                        <a:t>GPS Navigation on Trails: A Hiker's Practical Guide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Peaks of the Balkans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dirty="0">
                          <a:solidFill>
                            <a:srgbClr val="141414"/>
                          </a:solidFill>
                          <a:latin typeface="Aptos"/>
                        </a:rPr>
                        <a:t>June 09, 2026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solidFill>
                            <a:srgbClr val="141414"/>
                          </a:solidFill>
                          <a:latin typeface="Aptos"/>
                        </a:rPr>
                        <a:t>Reliable navigation, offline maps, GPS accuracy, and backup methods are important where cellular coverage is limited—supporting offline navigation</a:t>
                      </a:r>
                      <a:r>
                        <a:rPr sz="919" dirty="0">
                          <a:solidFill>
                            <a:srgbClr val="141414"/>
                          </a:solidFill>
                          <a:latin typeface="Aptos"/>
                        </a:rPr>
                        <a:t>.</a:t>
                      </a:r>
                    </a:p>
                  </a:txBody>
                  <a:tcPr marL="64008" marR="45720" marB="27432">
                    <a:solidFill>
                      <a:srgbClr val="A9B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0771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EMBARK ON YOUR NEXT JOURNEY.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10629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Strategic planning for the modern explorer.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92573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497336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2639095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Website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94560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www.pinnaclepaths.com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0881" y="3314179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767225"/>
                </a:lnTo>
                <a:arcTo wR="49619" hR="49619" stAng="0" swAng="5400000"/>
                <a:lnTo>
                  <a:pt x="49619" y="816843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10" name="Shape 7"/>
          <p:cNvSpPr/>
          <p:nvPr/>
        </p:nvSpPr>
        <p:spPr>
          <a:xfrm>
            <a:off x="500881" y="3314179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8BFDF"/>
          </a:solidFill>
          <a:ln/>
        </p:spPr>
      </p:sp>
      <p:sp>
        <p:nvSpPr>
          <p:cNvPr id="11" name="Text 8"/>
          <p:cNvSpPr/>
          <p:nvPr/>
        </p:nvSpPr>
        <p:spPr>
          <a:xfrm>
            <a:off x="642640" y="345593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Partnerships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76244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partnerships@pinnaclepaths.com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196</TotalTime>
  <Words>783</Words>
  <Application>Microsoft Office PowerPoint</Application>
  <PresentationFormat>On-screen Show (16:9)</PresentationFormat>
  <Paragraphs>108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Arial</vt:lpstr>
      <vt:lpstr>Brush Script MT</vt:lpstr>
      <vt:lpstr>Nobile</vt:lpstr>
      <vt:lpstr>Rage Italic</vt:lpstr>
      <vt:lpstr>Aptos</vt:lpstr>
      <vt:lpstr>Nobile Bold</vt:lpstr>
      <vt:lpstr>Aptos Display</vt:lpstr>
      <vt:lpstr>Franklin Gothic Book</vt:lpstr>
      <vt:lpstr>Corben</vt:lpstr>
      <vt:lpstr>Berlin Sans FB Demi</vt:lpstr>
      <vt:lpstr>Castellar</vt:lpstr>
      <vt:lpstr>Constantia</vt:lpstr>
      <vt:lpstr>Comic Sans MS</vt:lpstr>
      <vt:lpstr>Calibri</vt:lpstr>
      <vt:lpstr>Pushpin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Aryan</dc:creator>
  <cp:lastModifiedBy>Dell</cp:lastModifiedBy>
  <cp:revision>15</cp:revision>
  <dcterms:created xsi:type="dcterms:W3CDTF">2026-08-10T15:52:12Z</dcterms:created>
  <dcterms:modified xsi:type="dcterms:W3CDTF">2026-09-15T13:52:07Z</dcterms:modified>
</cp:coreProperties>
</file>